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1230" autoAdjust="0"/>
  </p:normalViewPr>
  <p:slideViewPr>
    <p:cSldViewPr snapToGrid="0">
      <p:cViewPr>
        <p:scale>
          <a:sx n="92" d="100"/>
          <a:sy n="92" d="100"/>
        </p:scale>
        <p:origin x="12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4A4965-5F99-4B2F-92C0-943CA9FADE29}" type="datetimeFigureOut">
              <a:rPr lang="en-GB" smtClean="0"/>
              <a:t>09/10/2026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717849-F82D-418A-AB2F-580031E67931}" type="slidenum">
              <a:rPr lang="en-GB" smtClean="0"/>
              <a:t>‹#›</a:t>
            </a:fld>
            <a:endParaRPr lang="en-GB"/>
          </a:p>
        </p:txBody>
      </p:sp>
    </p:spTree>
    <p:extLst>
      <p:ext uri="{BB962C8B-B14F-4D97-AF65-F5344CB8AC3E}">
        <p14:creationId xmlns:p14="http://schemas.microsoft.com/office/powerpoint/2010/main" val="21004651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Hi, I’m Murph, and despite much evidence to the contrary I still like to think of myself as just a programmer! So… Developer Friendly </a:t>
            </a:r>
            <a:r>
              <a:rPr lang="en-GB" dirty="0" err="1"/>
              <a:t>IaC</a:t>
            </a:r>
            <a:r>
              <a:rPr lang="en-GB" dirty="0"/>
              <a:t> – what do I mean by that?</a:t>
            </a:r>
          </a:p>
        </p:txBody>
      </p:sp>
      <p:sp>
        <p:nvSpPr>
          <p:cNvPr id="4" name="Slide Number Placeholder 3"/>
          <p:cNvSpPr>
            <a:spLocks noGrp="1"/>
          </p:cNvSpPr>
          <p:nvPr>
            <p:ph type="sldNum" sz="quarter" idx="5"/>
          </p:nvPr>
        </p:nvSpPr>
        <p:spPr/>
        <p:txBody>
          <a:bodyPr/>
          <a:lstStyle/>
          <a:p>
            <a:fld id="{66717849-F82D-418A-AB2F-580031E67931}" type="slidenum">
              <a:rPr lang="en-GB" smtClean="0"/>
              <a:t>1</a:t>
            </a:fld>
            <a:endParaRPr lang="en-GB"/>
          </a:p>
        </p:txBody>
      </p:sp>
    </p:spTree>
    <p:extLst>
      <p:ext uri="{BB962C8B-B14F-4D97-AF65-F5344CB8AC3E}">
        <p14:creationId xmlns:p14="http://schemas.microsoft.com/office/powerpoint/2010/main" val="2502184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start a step back - I think we’re all agreed that Infrastructure as code, version controlled, reviewed, and so on, is a good thing – I am also in the you build it, you run it, you own it school so that means that I would expect the dev team to work with that code.</a:t>
            </a:r>
          </a:p>
          <a:p>
            <a:endParaRPr lang="en-GB" dirty="0"/>
          </a:p>
          <a:p>
            <a:r>
              <a:rPr lang="en-GB" dirty="0"/>
              <a:t>Since this is an AWS conference that gives us some fairly specific options: CloudFormation, CDK, Terraform/</a:t>
            </a:r>
            <a:r>
              <a:rPr lang="en-GB" dirty="0" err="1"/>
              <a:t>OpenTofu</a:t>
            </a:r>
            <a:r>
              <a:rPr lang="en-GB" dirty="0"/>
              <a:t>, or… something else. And in my case that something else is Pulumi.</a:t>
            </a:r>
          </a:p>
          <a:p>
            <a:endParaRPr lang="en-GB" dirty="0"/>
          </a:p>
          <a:p>
            <a:r>
              <a:rPr lang="en-GB" dirty="0"/>
              <a:t>So how do we choose?</a:t>
            </a:r>
          </a:p>
        </p:txBody>
      </p:sp>
      <p:sp>
        <p:nvSpPr>
          <p:cNvPr id="4" name="Slide Number Placeholder 3"/>
          <p:cNvSpPr>
            <a:spLocks noGrp="1"/>
          </p:cNvSpPr>
          <p:nvPr>
            <p:ph type="sldNum" sz="quarter" idx="5"/>
          </p:nvPr>
        </p:nvSpPr>
        <p:spPr/>
        <p:txBody>
          <a:bodyPr/>
          <a:lstStyle/>
          <a:p>
            <a:fld id="{66717849-F82D-418A-AB2F-580031E67931}" type="slidenum">
              <a:rPr lang="en-GB" smtClean="0"/>
              <a:t>2</a:t>
            </a:fld>
            <a:endParaRPr lang="en-GB"/>
          </a:p>
        </p:txBody>
      </p:sp>
    </p:spTree>
    <p:extLst>
      <p:ext uri="{BB962C8B-B14F-4D97-AF65-F5344CB8AC3E}">
        <p14:creationId xmlns:p14="http://schemas.microsoft.com/office/powerpoint/2010/main" val="22772109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Each of these choices comes with </a:t>
            </a:r>
            <a:r>
              <a:rPr lang="en-GB" dirty="0" err="1"/>
              <a:t>tradeoffs</a:t>
            </a:r>
            <a:r>
              <a:rPr lang="en-GB" dirty="0"/>
              <a:t> – the first is where we can use our tooling.</a:t>
            </a:r>
          </a:p>
          <a:p>
            <a:endParaRPr lang="en-GB" dirty="0"/>
          </a:p>
          <a:p>
            <a:r>
              <a:rPr lang="en-GB" dirty="0"/>
              <a:t>How many here exist solely 100% in AWS?</a:t>
            </a:r>
          </a:p>
          <a:p>
            <a:endParaRPr lang="en-GB" dirty="0"/>
          </a:p>
          <a:p>
            <a:r>
              <a:rPr lang="en-GB" dirty="0"/>
              <a:t>For me I have resources in AWS, </a:t>
            </a:r>
            <a:r>
              <a:rPr lang="en-GB" dirty="0" err="1"/>
              <a:t>Github</a:t>
            </a:r>
            <a:r>
              <a:rPr lang="en-GB" dirty="0"/>
              <a:t>, MongoDB Atlas, and Kubernetes (EKS in AWS). We’ll come back to this, but I can add a new repository to </a:t>
            </a:r>
            <a:r>
              <a:rPr lang="en-GB" dirty="0" err="1"/>
              <a:t>github</a:t>
            </a:r>
            <a:r>
              <a:rPr lang="en-GB" dirty="0"/>
              <a:t>, with various things correctly configured, by adding this line of code.</a:t>
            </a:r>
          </a:p>
        </p:txBody>
      </p:sp>
      <p:sp>
        <p:nvSpPr>
          <p:cNvPr id="4" name="Slide Number Placeholder 3"/>
          <p:cNvSpPr>
            <a:spLocks noGrp="1"/>
          </p:cNvSpPr>
          <p:nvPr>
            <p:ph type="sldNum" sz="quarter" idx="5"/>
          </p:nvPr>
        </p:nvSpPr>
        <p:spPr/>
        <p:txBody>
          <a:bodyPr/>
          <a:lstStyle/>
          <a:p>
            <a:fld id="{66717849-F82D-418A-AB2F-580031E67931}" type="slidenum">
              <a:rPr lang="en-GB" smtClean="0"/>
              <a:t>3</a:t>
            </a:fld>
            <a:endParaRPr lang="en-GB"/>
          </a:p>
        </p:txBody>
      </p:sp>
    </p:spTree>
    <p:extLst>
      <p:ext uri="{BB962C8B-B14F-4D97-AF65-F5344CB8AC3E}">
        <p14:creationId xmlns:p14="http://schemas.microsoft.com/office/powerpoint/2010/main" val="740366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Which brings us to Developer friendly – there is a fabulous book, Team </a:t>
            </a:r>
            <a:r>
              <a:rPr lang="en-GB" dirty="0" err="1"/>
              <a:t>Toplogies</a:t>
            </a:r>
            <a:r>
              <a:rPr lang="en-GB" dirty="0"/>
              <a:t>, and that’s where I first heard the term “Cognitive Load” – cognitive load applies to individuals and teams and is basically about how much diversity of stuff we can hold in our heads, when there’s too much something has to give. For individuals its what makes context switches hard and for teams it results in individuals with effectively </a:t>
            </a:r>
            <a:r>
              <a:rPr lang="en-GB" dirty="0" err="1"/>
              <a:t>silo’ed</a:t>
            </a:r>
            <a:r>
              <a:rPr lang="en-GB" dirty="0"/>
              <a:t> knowledge.</a:t>
            </a:r>
          </a:p>
          <a:p>
            <a:endParaRPr lang="en-GB" dirty="0"/>
          </a:p>
          <a:p>
            <a:r>
              <a:rPr lang="en-GB" dirty="0"/>
              <a:t>If we want out teams to own their products end to end then they have to be able to work with – to read, understand, write and apply - their infrastructure code.</a:t>
            </a:r>
          </a:p>
        </p:txBody>
      </p:sp>
      <p:sp>
        <p:nvSpPr>
          <p:cNvPr id="4" name="Slide Number Placeholder 3"/>
          <p:cNvSpPr>
            <a:spLocks noGrp="1"/>
          </p:cNvSpPr>
          <p:nvPr>
            <p:ph type="sldNum" sz="quarter" idx="5"/>
          </p:nvPr>
        </p:nvSpPr>
        <p:spPr/>
        <p:txBody>
          <a:bodyPr/>
          <a:lstStyle/>
          <a:p>
            <a:fld id="{66717849-F82D-418A-AB2F-580031E67931}" type="slidenum">
              <a:rPr lang="en-GB" smtClean="0"/>
              <a:t>4</a:t>
            </a:fld>
            <a:endParaRPr lang="en-GB"/>
          </a:p>
        </p:txBody>
      </p:sp>
    </p:spTree>
    <p:extLst>
      <p:ext uri="{BB962C8B-B14F-4D97-AF65-F5344CB8AC3E}">
        <p14:creationId xmlns:p14="http://schemas.microsoft.com/office/powerpoint/2010/main" val="1403167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Given this we can start to make choices</a:t>
            </a:r>
          </a:p>
          <a:p>
            <a:endParaRPr lang="en-GB" dirty="0"/>
          </a:p>
          <a:p>
            <a:r>
              <a:rPr lang="en-GB" dirty="0"/>
              <a:t>Lets start with CloudFormation – does anyone actually </a:t>
            </a:r>
            <a:r>
              <a:rPr lang="en-GB" i="1" dirty="0"/>
              <a:t>like</a:t>
            </a:r>
            <a:r>
              <a:rPr lang="en-GB" i="0" dirty="0"/>
              <a:t> cloud formation? Capable, but </a:t>
            </a:r>
            <a:r>
              <a:rPr lang="en-GB" i="0" dirty="0" err="1"/>
              <a:t>json</a:t>
            </a:r>
            <a:r>
              <a:rPr lang="en-GB" i="0" dirty="0"/>
              <a:t> with programmability bolted on, so, actively developer hostile </a:t>
            </a:r>
            <a:r>
              <a:rPr lang="en-GB" i="1" dirty="0"/>
              <a:t>and</a:t>
            </a:r>
            <a:r>
              <a:rPr lang="en-GB" i="0" dirty="0"/>
              <a:t> limited to just AWS.</a:t>
            </a:r>
          </a:p>
          <a:p>
            <a:endParaRPr lang="en-GB" i="0" dirty="0"/>
          </a:p>
          <a:p>
            <a:r>
              <a:rPr lang="en-GB" i="0" dirty="0"/>
              <a:t>Next up would be the CDK – I haven’t touched this in a while but when it was shiny new it looked pretty decent, it is (or at least was) still pretty close to just AWS, its certainly not near universal, which brings us to the 900lb gorilla lurking in the ops corner.</a:t>
            </a:r>
          </a:p>
          <a:p>
            <a:endParaRPr lang="en-GB" i="0" dirty="0"/>
          </a:p>
          <a:p>
            <a:r>
              <a:rPr lang="en-GB" i="0" dirty="0"/>
              <a:t>Terraform / </a:t>
            </a:r>
            <a:r>
              <a:rPr lang="en-GB" i="0" dirty="0" err="1"/>
              <a:t>OpenTofu</a:t>
            </a:r>
            <a:r>
              <a:rPr lang="en-GB" i="0" dirty="0"/>
              <a:t> – well yes… this configures pretty much anything but HCL is still a separate language with its own nuances and is also something that started life as </a:t>
            </a:r>
            <a:r>
              <a:rPr lang="en-GB" i="0" dirty="0" err="1"/>
              <a:t>json</a:t>
            </a:r>
            <a:r>
              <a:rPr lang="en-GB" i="0" dirty="0"/>
              <a:t> with attitude. It’s this difference that is the problem, like it or not you </a:t>
            </a:r>
            <a:r>
              <a:rPr lang="en-GB" i="1" dirty="0"/>
              <a:t>will</a:t>
            </a:r>
            <a:r>
              <a:rPr lang="en-GB" i="0" dirty="0"/>
              <a:t> end up with an HCL specialist, and that HCL specialist </a:t>
            </a:r>
            <a:r>
              <a:rPr lang="en-GB" i="1" dirty="0"/>
              <a:t>will </a:t>
            </a:r>
            <a:r>
              <a:rPr lang="en-GB" i="0" dirty="0"/>
              <a:t>take annual leave or, worse, move on to new adventures (either to exploit that skillset or to hide from it).</a:t>
            </a:r>
          </a:p>
          <a:p>
            <a:endParaRPr lang="en-GB" i="0" dirty="0"/>
          </a:p>
          <a:p>
            <a:r>
              <a:rPr lang="en-GB" i="0" dirty="0"/>
              <a:t>Which brings us to Pulumi…</a:t>
            </a:r>
            <a:endParaRPr lang="en-GB" dirty="0"/>
          </a:p>
        </p:txBody>
      </p:sp>
      <p:sp>
        <p:nvSpPr>
          <p:cNvPr id="4" name="Slide Number Placeholder 3"/>
          <p:cNvSpPr>
            <a:spLocks noGrp="1"/>
          </p:cNvSpPr>
          <p:nvPr>
            <p:ph type="sldNum" sz="quarter" idx="5"/>
          </p:nvPr>
        </p:nvSpPr>
        <p:spPr/>
        <p:txBody>
          <a:bodyPr/>
          <a:lstStyle/>
          <a:p>
            <a:fld id="{66717849-F82D-418A-AB2F-580031E67931}" type="slidenum">
              <a:rPr lang="en-GB" smtClean="0"/>
              <a:t>5</a:t>
            </a:fld>
            <a:endParaRPr lang="en-GB"/>
          </a:p>
        </p:txBody>
      </p:sp>
    </p:spTree>
    <p:extLst>
      <p:ext uri="{BB962C8B-B14F-4D97-AF65-F5344CB8AC3E}">
        <p14:creationId xmlns:p14="http://schemas.microsoft.com/office/powerpoint/2010/main" val="856914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Pulumi’s party trick is that the code is what </a:t>
            </a:r>
            <a:r>
              <a:rPr lang="en-GB" b="1" dirty="0"/>
              <a:t>I</a:t>
            </a:r>
            <a:r>
              <a:rPr lang="en-GB" b="0" dirty="0"/>
              <a:t> and other programmer would call code – and that there is a choice, or, in fact, a lot of choices of programming language.</a:t>
            </a:r>
          </a:p>
          <a:p>
            <a:r>
              <a:rPr lang="en-GB" b="0" dirty="0"/>
              <a:t>Typescript, Python, Go, .NET – I write mine in F# because why make my life easy, and Java (which probably mean Kotlin as well).</a:t>
            </a:r>
          </a:p>
          <a:p>
            <a:r>
              <a:rPr lang="en-GB" b="0" dirty="0"/>
              <a:t>It also supports YAML and HCL – because… well I don’t know why people want to cause themselves pain but it’s a choice…</a:t>
            </a:r>
          </a:p>
          <a:p>
            <a:endParaRPr lang="en-GB" b="0" dirty="0"/>
          </a:p>
          <a:p>
            <a:r>
              <a:rPr lang="en-GB" b="0" dirty="0"/>
              <a:t>Pulumi is open source, but there is also a SaaS offering which does lots of nice things, but not on a budget I can afford at the very S end of SME. I suspect the Enterprise offering makes the </a:t>
            </a:r>
            <a:r>
              <a:rPr lang="en-GB" b="0" dirty="0" err="1"/>
              <a:t>RoI</a:t>
            </a:r>
            <a:r>
              <a:rPr lang="en-GB" b="0" dirty="0"/>
              <a:t> rather easier</a:t>
            </a:r>
          </a:p>
          <a:p>
            <a:endParaRPr lang="en-GB" b="0" dirty="0"/>
          </a:p>
          <a:p>
            <a:r>
              <a:rPr lang="en-GB" b="0" dirty="0"/>
              <a:t>It has direct support for a vast array of platforms, the headlines are the usual suspects AWS, Azure, Google Cloud, Kubernetes, and many more – and this before we get to the fact that you can use </a:t>
            </a:r>
            <a:r>
              <a:rPr lang="en-GB" b="0" i="1" dirty="0"/>
              <a:t>any</a:t>
            </a:r>
            <a:r>
              <a:rPr lang="en-GB" b="0" i="0" dirty="0"/>
              <a:t> Terraform provider, and </a:t>
            </a:r>
            <a:r>
              <a:rPr lang="en-GB" b="0" i="1" dirty="0"/>
              <a:t>any</a:t>
            </a:r>
            <a:r>
              <a:rPr lang="en-GB" b="0" i="0" dirty="0"/>
              <a:t> HCL module.</a:t>
            </a:r>
          </a:p>
          <a:p>
            <a:endParaRPr lang="en-GB" b="0" i="0" dirty="0"/>
          </a:p>
          <a:p>
            <a:r>
              <a:rPr lang="en-GB" b="0" i="0" dirty="0"/>
              <a:t>I will call out one package in particular – there is </a:t>
            </a:r>
            <a:r>
              <a:rPr lang="en-GB" b="0" i="0" dirty="0" err="1"/>
              <a:t>AWSx</a:t>
            </a:r>
            <a:r>
              <a:rPr lang="en-GB" b="0" i="0" dirty="0"/>
              <a:t> – which wraps up best practices for you, I haven’t tried this but we should generally take all the help we can get.</a:t>
            </a:r>
          </a:p>
          <a:p>
            <a:endParaRPr lang="en-GB" dirty="0"/>
          </a:p>
        </p:txBody>
      </p:sp>
      <p:sp>
        <p:nvSpPr>
          <p:cNvPr id="4" name="Slide Number Placeholder 3"/>
          <p:cNvSpPr>
            <a:spLocks noGrp="1"/>
          </p:cNvSpPr>
          <p:nvPr>
            <p:ph type="sldNum" sz="quarter" idx="5"/>
          </p:nvPr>
        </p:nvSpPr>
        <p:spPr/>
        <p:txBody>
          <a:bodyPr/>
          <a:lstStyle/>
          <a:p>
            <a:fld id="{66717849-F82D-418A-AB2F-580031E67931}" type="slidenum">
              <a:rPr lang="en-GB" smtClean="0"/>
              <a:t>6</a:t>
            </a:fld>
            <a:endParaRPr lang="en-GB"/>
          </a:p>
        </p:txBody>
      </p:sp>
    </p:spTree>
    <p:extLst>
      <p:ext uri="{BB962C8B-B14F-4D97-AF65-F5344CB8AC3E}">
        <p14:creationId xmlns:p14="http://schemas.microsoft.com/office/powerpoint/2010/main" val="39867276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Ok, so that’s the background, what does this look like in practice? I would prefer to actually run some of this live but time…</a:t>
            </a:r>
          </a:p>
          <a:p>
            <a:endParaRPr lang="en-GB" dirty="0"/>
          </a:p>
          <a:p>
            <a:pPr marL="171450" indent="-171450">
              <a:buFont typeface="Arial" panose="020B0604020202020204" pitchFamily="34" charset="0"/>
              <a:buChar char="•"/>
            </a:pPr>
            <a:r>
              <a:rPr lang="en-GB" dirty="0"/>
              <a:t>Command line tool</a:t>
            </a:r>
          </a:p>
          <a:p>
            <a:pPr marL="171450" indent="-171450">
              <a:buFont typeface="Arial" panose="020B0604020202020204" pitchFamily="34" charset="0"/>
              <a:buChar char="•"/>
            </a:pPr>
            <a:r>
              <a:rPr lang="en-GB" dirty="0"/>
              <a:t>SDK – with a lot of packages</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I’ll give examples in C# because that’s what I know and I don’t want to inflict F# on you and all of this is in a public repo.</a:t>
            </a:r>
          </a:p>
          <a:p>
            <a:pPr marL="0" indent="0">
              <a:buFont typeface="Arial" panose="020B0604020202020204" pitchFamily="34" charset="0"/>
              <a:buNone/>
            </a:pPr>
            <a:endParaRPr lang="en-GB" dirty="0"/>
          </a:p>
          <a:p>
            <a:pPr marL="0" indent="0">
              <a:buFont typeface="Arial" panose="020B0604020202020204" pitchFamily="34" charset="0"/>
              <a:buNone/>
            </a:pPr>
            <a:r>
              <a:rPr lang="en-GB" dirty="0"/>
              <a:t>Lets start by setting </a:t>
            </a:r>
            <a:r>
              <a:rPr lang="en-GB"/>
              <a:t>up something new</a:t>
            </a:r>
            <a:endParaRPr lang="en-GB" dirty="0"/>
          </a:p>
        </p:txBody>
      </p:sp>
      <p:sp>
        <p:nvSpPr>
          <p:cNvPr id="4" name="Slide Number Placeholder 3"/>
          <p:cNvSpPr>
            <a:spLocks noGrp="1"/>
          </p:cNvSpPr>
          <p:nvPr>
            <p:ph type="sldNum" sz="quarter" idx="5"/>
          </p:nvPr>
        </p:nvSpPr>
        <p:spPr/>
        <p:txBody>
          <a:bodyPr/>
          <a:lstStyle/>
          <a:p>
            <a:fld id="{66717849-F82D-418A-AB2F-580031E67931}" type="slidenum">
              <a:rPr lang="en-GB" smtClean="0"/>
              <a:t>7</a:t>
            </a:fld>
            <a:endParaRPr lang="en-GB"/>
          </a:p>
        </p:txBody>
      </p:sp>
    </p:spTree>
    <p:extLst>
      <p:ext uri="{BB962C8B-B14F-4D97-AF65-F5344CB8AC3E}">
        <p14:creationId xmlns:p14="http://schemas.microsoft.com/office/powerpoint/2010/main" val="1888604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64693-A248-AEA4-4541-66806659179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9AD8C20B-E5A1-056C-AF09-C0E7F1D4DF4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212D598B-E552-4F3C-F17A-DF88D01A75C7}"/>
              </a:ext>
            </a:extLst>
          </p:cNvPr>
          <p:cNvSpPr>
            <a:spLocks noGrp="1"/>
          </p:cNvSpPr>
          <p:nvPr>
            <p:ph type="dt" sz="half" idx="10"/>
          </p:nvPr>
        </p:nvSpPr>
        <p:spPr/>
        <p:txBody>
          <a:bodyPr/>
          <a:lstStyle/>
          <a:p>
            <a:fld id="{B51CBC34-7CE2-465E-A5F2-96679E0059DE}" type="datetimeFigureOut">
              <a:rPr lang="en-GB" smtClean="0"/>
              <a:t>09/10/2026</a:t>
            </a:fld>
            <a:endParaRPr lang="en-GB"/>
          </a:p>
        </p:txBody>
      </p:sp>
      <p:sp>
        <p:nvSpPr>
          <p:cNvPr id="5" name="Footer Placeholder 4">
            <a:extLst>
              <a:ext uri="{FF2B5EF4-FFF2-40B4-BE49-F238E27FC236}">
                <a16:creationId xmlns:a16="http://schemas.microsoft.com/office/drawing/2014/main" id="{1FC16644-E988-D946-8D52-B07D74C308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C7F809-0AD5-EF29-A693-4671DB4EAA93}"/>
              </a:ext>
            </a:extLst>
          </p:cNvPr>
          <p:cNvSpPr>
            <a:spLocks noGrp="1"/>
          </p:cNvSpPr>
          <p:nvPr>
            <p:ph type="sldNum" sz="quarter" idx="12"/>
          </p:nvPr>
        </p:nvSpPr>
        <p:spPr/>
        <p:txBody>
          <a:bodyPr/>
          <a:lstStyle/>
          <a:p>
            <a:fld id="{216B676D-6564-4B1F-9F08-B86A246A5739}" type="slidenum">
              <a:rPr lang="en-GB" smtClean="0"/>
              <a:t>‹#›</a:t>
            </a:fld>
            <a:endParaRPr lang="en-GB"/>
          </a:p>
        </p:txBody>
      </p:sp>
    </p:spTree>
    <p:extLst>
      <p:ext uri="{BB962C8B-B14F-4D97-AF65-F5344CB8AC3E}">
        <p14:creationId xmlns:p14="http://schemas.microsoft.com/office/powerpoint/2010/main" val="1388068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7EDBF-3322-8389-42BF-4DAD89C2348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96AF809-2B4B-6F0C-2CD1-6940612F901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72CF72A-0C9F-5DFE-0629-81DA4BA1EC9E}"/>
              </a:ext>
            </a:extLst>
          </p:cNvPr>
          <p:cNvSpPr>
            <a:spLocks noGrp="1"/>
          </p:cNvSpPr>
          <p:nvPr>
            <p:ph type="dt" sz="half" idx="10"/>
          </p:nvPr>
        </p:nvSpPr>
        <p:spPr/>
        <p:txBody>
          <a:bodyPr/>
          <a:lstStyle/>
          <a:p>
            <a:fld id="{B51CBC34-7CE2-465E-A5F2-96679E0059DE}" type="datetimeFigureOut">
              <a:rPr lang="en-GB" smtClean="0"/>
              <a:t>09/10/2026</a:t>
            </a:fld>
            <a:endParaRPr lang="en-GB"/>
          </a:p>
        </p:txBody>
      </p:sp>
      <p:sp>
        <p:nvSpPr>
          <p:cNvPr id="5" name="Footer Placeholder 4">
            <a:extLst>
              <a:ext uri="{FF2B5EF4-FFF2-40B4-BE49-F238E27FC236}">
                <a16:creationId xmlns:a16="http://schemas.microsoft.com/office/drawing/2014/main" id="{4DE02C90-5B9B-303F-3E21-6A7C09DC98C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1EE8898-19E2-1250-2C18-5A1B8F916DBD}"/>
              </a:ext>
            </a:extLst>
          </p:cNvPr>
          <p:cNvSpPr>
            <a:spLocks noGrp="1"/>
          </p:cNvSpPr>
          <p:nvPr>
            <p:ph type="sldNum" sz="quarter" idx="12"/>
          </p:nvPr>
        </p:nvSpPr>
        <p:spPr/>
        <p:txBody>
          <a:bodyPr/>
          <a:lstStyle/>
          <a:p>
            <a:fld id="{216B676D-6564-4B1F-9F08-B86A246A5739}" type="slidenum">
              <a:rPr lang="en-GB" smtClean="0"/>
              <a:t>‹#›</a:t>
            </a:fld>
            <a:endParaRPr lang="en-GB"/>
          </a:p>
        </p:txBody>
      </p:sp>
    </p:spTree>
    <p:extLst>
      <p:ext uri="{BB962C8B-B14F-4D97-AF65-F5344CB8AC3E}">
        <p14:creationId xmlns:p14="http://schemas.microsoft.com/office/powerpoint/2010/main" val="4002471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14A36-EC40-47F3-C3AC-1986A7E9085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8CC26C6B-20B6-CA96-7CD5-5FE2CE6132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D7E55A9-BD94-E6BC-B9E8-A457AA7C81A5}"/>
              </a:ext>
            </a:extLst>
          </p:cNvPr>
          <p:cNvSpPr>
            <a:spLocks noGrp="1"/>
          </p:cNvSpPr>
          <p:nvPr>
            <p:ph type="dt" sz="half" idx="10"/>
          </p:nvPr>
        </p:nvSpPr>
        <p:spPr/>
        <p:txBody>
          <a:bodyPr/>
          <a:lstStyle/>
          <a:p>
            <a:fld id="{B51CBC34-7CE2-465E-A5F2-96679E0059DE}" type="datetimeFigureOut">
              <a:rPr lang="en-GB" smtClean="0"/>
              <a:t>09/10/2026</a:t>
            </a:fld>
            <a:endParaRPr lang="en-GB"/>
          </a:p>
        </p:txBody>
      </p:sp>
      <p:sp>
        <p:nvSpPr>
          <p:cNvPr id="5" name="Footer Placeholder 4">
            <a:extLst>
              <a:ext uri="{FF2B5EF4-FFF2-40B4-BE49-F238E27FC236}">
                <a16:creationId xmlns:a16="http://schemas.microsoft.com/office/drawing/2014/main" id="{052DE075-2824-2832-744E-A04A2DF90D3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FA226AC-E744-BFAF-24DD-257B6F5F580B}"/>
              </a:ext>
            </a:extLst>
          </p:cNvPr>
          <p:cNvSpPr>
            <a:spLocks noGrp="1"/>
          </p:cNvSpPr>
          <p:nvPr>
            <p:ph type="sldNum" sz="quarter" idx="12"/>
          </p:nvPr>
        </p:nvSpPr>
        <p:spPr/>
        <p:txBody>
          <a:bodyPr/>
          <a:lstStyle/>
          <a:p>
            <a:fld id="{216B676D-6564-4B1F-9F08-B86A246A5739}" type="slidenum">
              <a:rPr lang="en-GB" smtClean="0"/>
              <a:t>‹#›</a:t>
            </a:fld>
            <a:endParaRPr lang="en-GB"/>
          </a:p>
        </p:txBody>
      </p:sp>
    </p:spTree>
    <p:extLst>
      <p:ext uri="{BB962C8B-B14F-4D97-AF65-F5344CB8AC3E}">
        <p14:creationId xmlns:p14="http://schemas.microsoft.com/office/powerpoint/2010/main" val="8065047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72DB9-E1F4-B59C-C7E2-81D7198B5D6B}"/>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38907978-D74D-9DE0-047C-903C4411C5D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64C88C3F-F80D-D59C-7077-006E8EE0CB6D}"/>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0BB5F38-FA9C-025A-7108-AEC70772AC1B}"/>
              </a:ext>
            </a:extLst>
          </p:cNvPr>
          <p:cNvSpPr>
            <a:spLocks noGrp="1"/>
          </p:cNvSpPr>
          <p:nvPr>
            <p:ph type="dt" sz="half" idx="10"/>
          </p:nvPr>
        </p:nvSpPr>
        <p:spPr/>
        <p:txBody>
          <a:bodyPr/>
          <a:lstStyle/>
          <a:p>
            <a:fld id="{B51CBC34-7CE2-465E-A5F2-96679E0059DE}" type="datetimeFigureOut">
              <a:rPr lang="en-GB" smtClean="0"/>
              <a:t>09/10/2026</a:t>
            </a:fld>
            <a:endParaRPr lang="en-GB"/>
          </a:p>
        </p:txBody>
      </p:sp>
      <p:sp>
        <p:nvSpPr>
          <p:cNvPr id="6" name="Footer Placeholder 5">
            <a:extLst>
              <a:ext uri="{FF2B5EF4-FFF2-40B4-BE49-F238E27FC236}">
                <a16:creationId xmlns:a16="http://schemas.microsoft.com/office/drawing/2014/main" id="{0833F055-8A63-DF23-F45E-D622ECD3CBB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6D67AF8-1278-F0EC-4616-D4D28806713A}"/>
              </a:ext>
            </a:extLst>
          </p:cNvPr>
          <p:cNvSpPr>
            <a:spLocks noGrp="1"/>
          </p:cNvSpPr>
          <p:nvPr>
            <p:ph type="sldNum" sz="quarter" idx="12"/>
          </p:nvPr>
        </p:nvSpPr>
        <p:spPr/>
        <p:txBody>
          <a:bodyPr/>
          <a:lstStyle/>
          <a:p>
            <a:fld id="{216B676D-6564-4B1F-9F08-B86A246A5739}" type="slidenum">
              <a:rPr lang="en-GB" smtClean="0"/>
              <a:t>‹#›</a:t>
            </a:fld>
            <a:endParaRPr lang="en-GB"/>
          </a:p>
        </p:txBody>
      </p:sp>
    </p:spTree>
    <p:extLst>
      <p:ext uri="{BB962C8B-B14F-4D97-AF65-F5344CB8AC3E}">
        <p14:creationId xmlns:p14="http://schemas.microsoft.com/office/powerpoint/2010/main" val="1650380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B9C3E-BF7D-07AA-3796-84E96013F450}"/>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0703B8B7-732D-2CFB-2672-D6E70152BF8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FEC66F6-6F73-8EE2-5798-24C65749B36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496D0A78-F93C-D00F-483C-9C7435DBF9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0C5BFD6-2997-7966-EEDB-B15F116724E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EC74CD41-A830-3ED3-C001-4C10407B2C1D}"/>
              </a:ext>
            </a:extLst>
          </p:cNvPr>
          <p:cNvSpPr>
            <a:spLocks noGrp="1"/>
          </p:cNvSpPr>
          <p:nvPr>
            <p:ph type="dt" sz="half" idx="10"/>
          </p:nvPr>
        </p:nvSpPr>
        <p:spPr/>
        <p:txBody>
          <a:bodyPr/>
          <a:lstStyle/>
          <a:p>
            <a:fld id="{B51CBC34-7CE2-465E-A5F2-96679E0059DE}" type="datetimeFigureOut">
              <a:rPr lang="en-GB" smtClean="0"/>
              <a:t>09/10/2026</a:t>
            </a:fld>
            <a:endParaRPr lang="en-GB"/>
          </a:p>
        </p:txBody>
      </p:sp>
      <p:sp>
        <p:nvSpPr>
          <p:cNvPr id="8" name="Footer Placeholder 7">
            <a:extLst>
              <a:ext uri="{FF2B5EF4-FFF2-40B4-BE49-F238E27FC236}">
                <a16:creationId xmlns:a16="http://schemas.microsoft.com/office/drawing/2014/main" id="{F6F28AB3-F763-507D-5244-BDE22BBA27A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428F6CB3-DCB2-3336-E099-055819F19507}"/>
              </a:ext>
            </a:extLst>
          </p:cNvPr>
          <p:cNvSpPr>
            <a:spLocks noGrp="1"/>
          </p:cNvSpPr>
          <p:nvPr>
            <p:ph type="sldNum" sz="quarter" idx="12"/>
          </p:nvPr>
        </p:nvSpPr>
        <p:spPr/>
        <p:txBody>
          <a:bodyPr/>
          <a:lstStyle/>
          <a:p>
            <a:fld id="{216B676D-6564-4B1F-9F08-B86A246A5739}" type="slidenum">
              <a:rPr lang="en-GB" smtClean="0"/>
              <a:t>‹#›</a:t>
            </a:fld>
            <a:endParaRPr lang="en-GB"/>
          </a:p>
        </p:txBody>
      </p:sp>
    </p:spTree>
    <p:extLst>
      <p:ext uri="{BB962C8B-B14F-4D97-AF65-F5344CB8AC3E}">
        <p14:creationId xmlns:p14="http://schemas.microsoft.com/office/powerpoint/2010/main" val="3152829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F893B-937D-50F3-DA09-D40CC6B96C0F}"/>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07C53DF9-7D77-F03C-1D16-6E76A4D4C5F8}"/>
              </a:ext>
            </a:extLst>
          </p:cNvPr>
          <p:cNvSpPr>
            <a:spLocks noGrp="1"/>
          </p:cNvSpPr>
          <p:nvPr>
            <p:ph type="dt" sz="half" idx="10"/>
          </p:nvPr>
        </p:nvSpPr>
        <p:spPr/>
        <p:txBody>
          <a:bodyPr/>
          <a:lstStyle/>
          <a:p>
            <a:fld id="{B51CBC34-7CE2-465E-A5F2-96679E0059DE}" type="datetimeFigureOut">
              <a:rPr lang="en-GB" smtClean="0"/>
              <a:t>09/10/2026</a:t>
            </a:fld>
            <a:endParaRPr lang="en-GB"/>
          </a:p>
        </p:txBody>
      </p:sp>
      <p:sp>
        <p:nvSpPr>
          <p:cNvPr id="4" name="Footer Placeholder 3">
            <a:extLst>
              <a:ext uri="{FF2B5EF4-FFF2-40B4-BE49-F238E27FC236}">
                <a16:creationId xmlns:a16="http://schemas.microsoft.com/office/drawing/2014/main" id="{EBF50DAE-C29C-B542-4870-8DEF9E8F035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DB1B901A-AE04-CAFB-F1CC-1E084A5DD51E}"/>
              </a:ext>
            </a:extLst>
          </p:cNvPr>
          <p:cNvSpPr>
            <a:spLocks noGrp="1"/>
          </p:cNvSpPr>
          <p:nvPr>
            <p:ph type="sldNum" sz="quarter" idx="12"/>
          </p:nvPr>
        </p:nvSpPr>
        <p:spPr/>
        <p:txBody>
          <a:bodyPr/>
          <a:lstStyle/>
          <a:p>
            <a:fld id="{216B676D-6564-4B1F-9F08-B86A246A5739}" type="slidenum">
              <a:rPr lang="en-GB" smtClean="0"/>
              <a:t>‹#›</a:t>
            </a:fld>
            <a:endParaRPr lang="en-GB"/>
          </a:p>
        </p:txBody>
      </p:sp>
    </p:spTree>
    <p:extLst>
      <p:ext uri="{BB962C8B-B14F-4D97-AF65-F5344CB8AC3E}">
        <p14:creationId xmlns:p14="http://schemas.microsoft.com/office/powerpoint/2010/main" val="480912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A15EB6-C8A5-AE3C-E67A-2876CC5E7C1E}"/>
              </a:ext>
            </a:extLst>
          </p:cNvPr>
          <p:cNvSpPr>
            <a:spLocks noGrp="1"/>
          </p:cNvSpPr>
          <p:nvPr>
            <p:ph type="dt" sz="half" idx="10"/>
          </p:nvPr>
        </p:nvSpPr>
        <p:spPr/>
        <p:txBody>
          <a:bodyPr/>
          <a:lstStyle/>
          <a:p>
            <a:fld id="{B51CBC34-7CE2-465E-A5F2-96679E0059DE}" type="datetimeFigureOut">
              <a:rPr lang="en-GB" smtClean="0"/>
              <a:t>09/10/2026</a:t>
            </a:fld>
            <a:endParaRPr lang="en-GB"/>
          </a:p>
        </p:txBody>
      </p:sp>
      <p:sp>
        <p:nvSpPr>
          <p:cNvPr id="3" name="Footer Placeholder 2">
            <a:extLst>
              <a:ext uri="{FF2B5EF4-FFF2-40B4-BE49-F238E27FC236}">
                <a16:creationId xmlns:a16="http://schemas.microsoft.com/office/drawing/2014/main" id="{6EAE5B1B-104C-6C79-8AB0-14982B5A880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D3AD1958-7E6C-1736-C2C8-B6B711E515BF}"/>
              </a:ext>
            </a:extLst>
          </p:cNvPr>
          <p:cNvSpPr>
            <a:spLocks noGrp="1"/>
          </p:cNvSpPr>
          <p:nvPr>
            <p:ph type="sldNum" sz="quarter" idx="12"/>
          </p:nvPr>
        </p:nvSpPr>
        <p:spPr/>
        <p:txBody>
          <a:bodyPr/>
          <a:lstStyle/>
          <a:p>
            <a:fld id="{216B676D-6564-4B1F-9F08-B86A246A5739}" type="slidenum">
              <a:rPr lang="en-GB" smtClean="0"/>
              <a:t>‹#›</a:t>
            </a:fld>
            <a:endParaRPr lang="en-GB"/>
          </a:p>
        </p:txBody>
      </p:sp>
    </p:spTree>
    <p:extLst>
      <p:ext uri="{BB962C8B-B14F-4D97-AF65-F5344CB8AC3E}">
        <p14:creationId xmlns:p14="http://schemas.microsoft.com/office/powerpoint/2010/main" val="41961578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58D644-0E44-84F4-6366-850AD8963C7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57F0E849-067A-53EC-0101-809F427104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740D50B0-FCAC-21B6-6164-0E56B9476D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6FDAA07-4959-CF80-F433-957C7126B413}"/>
              </a:ext>
            </a:extLst>
          </p:cNvPr>
          <p:cNvSpPr>
            <a:spLocks noGrp="1"/>
          </p:cNvSpPr>
          <p:nvPr>
            <p:ph type="dt" sz="half" idx="10"/>
          </p:nvPr>
        </p:nvSpPr>
        <p:spPr/>
        <p:txBody>
          <a:bodyPr/>
          <a:lstStyle/>
          <a:p>
            <a:fld id="{B51CBC34-7CE2-465E-A5F2-96679E0059DE}" type="datetimeFigureOut">
              <a:rPr lang="en-GB" smtClean="0"/>
              <a:t>09/10/2026</a:t>
            </a:fld>
            <a:endParaRPr lang="en-GB"/>
          </a:p>
        </p:txBody>
      </p:sp>
      <p:sp>
        <p:nvSpPr>
          <p:cNvPr id="6" name="Footer Placeholder 5">
            <a:extLst>
              <a:ext uri="{FF2B5EF4-FFF2-40B4-BE49-F238E27FC236}">
                <a16:creationId xmlns:a16="http://schemas.microsoft.com/office/drawing/2014/main" id="{BF369851-5390-CDFE-566C-36291B28B6B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1A413F8-D89A-551F-C17A-721F40F9E81B}"/>
              </a:ext>
            </a:extLst>
          </p:cNvPr>
          <p:cNvSpPr>
            <a:spLocks noGrp="1"/>
          </p:cNvSpPr>
          <p:nvPr>
            <p:ph type="sldNum" sz="quarter" idx="12"/>
          </p:nvPr>
        </p:nvSpPr>
        <p:spPr/>
        <p:txBody>
          <a:bodyPr/>
          <a:lstStyle/>
          <a:p>
            <a:fld id="{216B676D-6564-4B1F-9F08-B86A246A5739}" type="slidenum">
              <a:rPr lang="en-GB" smtClean="0"/>
              <a:t>‹#›</a:t>
            </a:fld>
            <a:endParaRPr lang="en-GB"/>
          </a:p>
        </p:txBody>
      </p:sp>
    </p:spTree>
    <p:extLst>
      <p:ext uri="{BB962C8B-B14F-4D97-AF65-F5344CB8AC3E}">
        <p14:creationId xmlns:p14="http://schemas.microsoft.com/office/powerpoint/2010/main" val="2591334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A3758-A337-6F4B-D9EF-2CDA521F495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DFC3258B-1BF7-4525-F53A-8558264CE8A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D6AC80D4-83C7-989F-50E5-03F56BD4E2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AEF90AF-ACE6-2CD1-3C50-1F79BC36DE94}"/>
              </a:ext>
            </a:extLst>
          </p:cNvPr>
          <p:cNvSpPr>
            <a:spLocks noGrp="1"/>
          </p:cNvSpPr>
          <p:nvPr>
            <p:ph type="dt" sz="half" idx="10"/>
          </p:nvPr>
        </p:nvSpPr>
        <p:spPr/>
        <p:txBody>
          <a:bodyPr/>
          <a:lstStyle/>
          <a:p>
            <a:fld id="{B51CBC34-7CE2-465E-A5F2-96679E0059DE}" type="datetimeFigureOut">
              <a:rPr lang="en-GB" smtClean="0"/>
              <a:t>09/10/2026</a:t>
            </a:fld>
            <a:endParaRPr lang="en-GB"/>
          </a:p>
        </p:txBody>
      </p:sp>
      <p:sp>
        <p:nvSpPr>
          <p:cNvPr id="6" name="Footer Placeholder 5">
            <a:extLst>
              <a:ext uri="{FF2B5EF4-FFF2-40B4-BE49-F238E27FC236}">
                <a16:creationId xmlns:a16="http://schemas.microsoft.com/office/drawing/2014/main" id="{AFC4B4E6-3F10-C178-8FEA-115EAE5A6A2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E8D5773-94F4-7628-C0DC-6AEA91A108DE}"/>
              </a:ext>
            </a:extLst>
          </p:cNvPr>
          <p:cNvSpPr>
            <a:spLocks noGrp="1"/>
          </p:cNvSpPr>
          <p:nvPr>
            <p:ph type="sldNum" sz="quarter" idx="12"/>
          </p:nvPr>
        </p:nvSpPr>
        <p:spPr/>
        <p:txBody>
          <a:bodyPr/>
          <a:lstStyle/>
          <a:p>
            <a:fld id="{216B676D-6564-4B1F-9F08-B86A246A5739}" type="slidenum">
              <a:rPr lang="en-GB" smtClean="0"/>
              <a:t>‹#›</a:t>
            </a:fld>
            <a:endParaRPr lang="en-GB"/>
          </a:p>
        </p:txBody>
      </p:sp>
    </p:spTree>
    <p:extLst>
      <p:ext uri="{BB962C8B-B14F-4D97-AF65-F5344CB8AC3E}">
        <p14:creationId xmlns:p14="http://schemas.microsoft.com/office/powerpoint/2010/main" val="3314997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AFA7-B931-3B49-6195-E24CEE932042}"/>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6F5EAD45-7817-51C1-558A-68B4B4EA66F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D70C1E7-CF65-A664-EDED-F0FEB6EEBE0E}"/>
              </a:ext>
            </a:extLst>
          </p:cNvPr>
          <p:cNvSpPr>
            <a:spLocks noGrp="1"/>
          </p:cNvSpPr>
          <p:nvPr>
            <p:ph type="dt" sz="half" idx="10"/>
          </p:nvPr>
        </p:nvSpPr>
        <p:spPr/>
        <p:txBody>
          <a:bodyPr/>
          <a:lstStyle/>
          <a:p>
            <a:fld id="{B51CBC34-7CE2-465E-A5F2-96679E0059DE}" type="datetimeFigureOut">
              <a:rPr lang="en-GB" smtClean="0"/>
              <a:t>09/10/2026</a:t>
            </a:fld>
            <a:endParaRPr lang="en-GB"/>
          </a:p>
        </p:txBody>
      </p:sp>
      <p:sp>
        <p:nvSpPr>
          <p:cNvPr id="5" name="Footer Placeholder 4">
            <a:extLst>
              <a:ext uri="{FF2B5EF4-FFF2-40B4-BE49-F238E27FC236}">
                <a16:creationId xmlns:a16="http://schemas.microsoft.com/office/drawing/2014/main" id="{C46B867A-115B-F3F8-DC02-638F0F73CB8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993744A-9373-FA83-5F37-8516268E6931}"/>
              </a:ext>
            </a:extLst>
          </p:cNvPr>
          <p:cNvSpPr>
            <a:spLocks noGrp="1"/>
          </p:cNvSpPr>
          <p:nvPr>
            <p:ph type="sldNum" sz="quarter" idx="12"/>
          </p:nvPr>
        </p:nvSpPr>
        <p:spPr/>
        <p:txBody>
          <a:bodyPr/>
          <a:lstStyle/>
          <a:p>
            <a:fld id="{216B676D-6564-4B1F-9F08-B86A246A5739}" type="slidenum">
              <a:rPr lang="en-GB" smtClean="0"/>
              <a:t>‹#›</a:t>
            </a:fld>
            <a:endParaRPr lang="en-GB"/>
          </a:p>
        </p:txBody>
      </p:sp>
    </p:spTree>
    <p:extLst>
      <p:ext uri="{BB962C8B-B14F-4D97-AF65-F5344CB8AC3E}">
        <p14:creationId xmlns:p14="http://schemas.microsoft.com/office/powerpoint/2010/main" val="2516871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53A6FD-2A0A-21BA-196B-3C2BECE3FC7D}"/>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D6F5CD96-92B7-1638-CFE9-E2887717603F}"/>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66A6941-39A0-4962-A449-564A84A42493}"/>
              </a:ext>
            </a:extLst>
          </p:cNvPr>
          <p:cNvSpPr>
            <a:spLocks noGrp="1"/>
          </p:cNvSpPr>
          <p:nvPr>
            <p:ph type="dt" sz="half" idx="10"/>
          </p:nvPr>
        </p:nvSpPr>
        <p:spPr/>
        <p:txBody>
          <a:bodyPr/>
          <a:lstStyle/>
          <a:p>
            <a:fld id="{B51CBC34-7CE2-465E-A5F2-96679E0059DE}" type="datetimeFigureOut">
              <a:rPr lang="en-GB" smtClean="0"/>
              <a:t>09/10/2026</a:t>
            </a:fld>
            <a:endParaRPr lang="en-GB"/>
          </a:p>
        </p:txBody>
      </p:sp>
      <p:sp>
        <p:nvSpPr>
          <p:cNvPr id="5" name="Footer Placeholder 4">
            <a:extLst>
              <a:ext uri="{FF2B5EF4-FFF2-40B4-BE49-F238E27FC236}">
                <a16:creationId xmlns:a16="http://schemas.microsoft.com/office/drawing/2014/main" id="{33AEBF06-1938-FECE-CFB4-2BDD4D1853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D8648F9-098B-BBB4-A91D-7E9D4971949A}"/>
              </a:ext>
            </a:extLst>
          </p:cNvPr>
          <p:cNvSpPr>
            <a:spLocks noGrp="1"/>
          </p:cNvSpPr>
          <p:nvPr>
            <p:ph type="sldNum" sz="quarter" idx="12"/>
          </p:nvPr>
        </p:nvSpPr>
        <p:spPr/>
        <p:txBody>
          <a:bodyPr/>
          <a:lstStyle/>
          <a:p>
            <a:fld id="{216B676D-6564-4B1F-9F08-B86A246A5739}" type="slidenum">
              <a:rPr lang="en-GB" smtClean="0"/>
              <a:t>‹#›</a:t>
            </a:fld>
            <a:endParaRPr lang="en-GB"/>
          </a:p>
        </p:txBody>
      </p:sp>
    </p:spTree>
    <p:extLst>
      <p:ext uri="{BB962C8B-B14F-4D97-AF65-F5344CB8AC3E}">
        <p14:creationId xmlns:p14="http://schemas.microsoft.com/office/powerpoint/2010/main" val="944321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EEAEC81-E867-51CC-D73C-BD37E8E0A8A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00727BF7-5F18-A899-BDBD-9E17558736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D8393A5-E0F2-CB96-D461-ED61022C99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1CBC34-7CE2-465E-A5F2-96679E0059DE}" type="datetimeFigureOut">
              <a:rPr lang="en-GB" smtClean="0"/>
              <a:t>09/10/2026</a:t>
            </a:fld>
            <a:endParaRPr lang="en-GB"/>
          </a:p>
        </p:txBody>
      </p:sp>
      <p:sp>
        <p:nvSpPr>
          <p:cNvPr id="5" name="Footer Placeholder 4">
            <a:extLst>
              <a:ext uri="{FF2B5EF4-FFF2-40B4-BE49-F238E27FC236}">
                <a16:creationId xmlns:a16="http://schemas.microsoft.com/office/drawing/2014/main" id="{E10112E8-BA75-3F88-D98D-3B72FD117F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A76907A7-0AA5-ACF8-7F24-37BD7A43C2A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16B676D-6564-4B1F-9F08-B86A246A5739}" type="slidenum">
              <a:rPr lang="en-GB" smtClean="0"/>
              <a:t>‹#›</a:t>
            </a:fld>
            <a:endParaRPr lang="en-GB"/>
          </a:p>
        </p:txBody>
      </p:sp>
    </p:spTree>
    <p:extLst>
      <p:ext uri="{BB962C8B-B14F-4D97-AF65-F5344CB8AC3E}">
        <p14:creationId xmlns:p14="http://schemas.microsoft.com/office/powerpoint/2010/main" val="17616542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74347B-630F-3535-52A9-211A2E1DE68A}"/>
              </a:ext>
            </a:extLst>
          </p:cNvPr>
          <p:cNvSpPr>
            <a:spLocks noGrp="1"/>
          </p:cNvSpPr>
          <p:nvPr>
            <p:ph type="ctrTitle"/>
          </p:nvPr>
        </p:nvSpPr>
        <p:spPr/>
        <p:txBody>
          <a:bodyPr/>
          <a:lstStyle/>
          <a:p>
            <a:r>
              <a:rPr lang="en-GB" dirty="0"/>
              <a:t>Developer Friendly </a:t>
            </a:r>
            <a:r>
              <a:rPr lang="en-GB" dirty="0" err="1"/>
              <a:t>IaC</a:t>
            </a:r>
            <a:endParaRPr lang="en-GB" dirty="0"/>
          </a:p>
        </p:txBody>
      </p:sp>
      <p:sp>
        <p:nvSpPr>
          <p:cNvPr id="3" name="Subtitle 2">
            <a:extLst>
              <a:ext uri="{FF2B5EF4-FFF2-40B4-BE49-F238E27FC236}">
                <a16:creationId xmlns:a16="http://schemas.microsoft.com/office/drawing/2014/main" id="{7261C7B6-6C19-B15B-F025-9865DCA53171}"/>
              </a:ext>
            </a:extLst>
          </p:cNvPr>
          <p:cNvSpPr>
            <a:spLocks noGrp="1"/>
          </p:cNvSpPr>
          <p:nvPr>
            <p:ph type="subTitle" idx="1"/>
          </p:nvPr>
        </p:nvSpPr>
        <p:spPr/>
        <p:txBody>
          <a:bodyPr/>
          <a:lstStyle/>
          <a:p>
            <a:r>
              <a:rPr lang="en-GB" dirty="0"/>
              <a:t>James Murphy – AWS North 2026</a:t>
            </a:r>
          </a:p>
        </p:txBody>
      </p:sp>
    </p:spTree>
    <p:extLst>
      <p:ext uri="{BB962C8B-B14F-4D97-AF65-F5344CB8AC3E}">
        <p14:creationId xmlns:p14="http://schemas.microsoft.com/office/powerpoint/2010/main" val="175012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D6429-84BC-A2EE-D898-2125FE1350A6}"/>
              </a:ext>
            </a:extLst>
          </p:cNvPr>
          <p:cNvSpPr>
            <a:spLocks noGrp="1"/>
          </p:cNvSpPr>
          <p:nvPr>
            <p:ph type="title"/>
          </p:nvPr>
        </p:nvSpPr>
        <p:spPr/>
        <p:txBody>
          <a:bodyPr/>
          <a:lstStyle/>
          <a:p>
            <a:r>
              <a:rPr lang="en-GB" dirty="0"/>
              <a:t>Choices</a:t>
            </a:r>
          </a:p>
        </p:txBody>
      </p:sp>
      <p:sp>
        <p:nvSpPr>
          <p:cNvPr id="3" name="Content Placeholder 2">
            <a:extLst>
              <a:ext uri="{FF2B5EF4-FFF2-40B4-BE49-F238E27FC236}">
                <a16:creationId xmlns:a16="http://schemas.microsoft.com/office/drawing/2014/main" id="{CDA176CA-A0A9-2EBF-CE82-183982D0052C}"/>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1040973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B4575-DD3D-9CD2-4C77-D88E24DBB5DD}"/>
              </a:ext>
            </a:extLst>
          </p:cNvPr>
          <p:cNvSpPr>
            <a:spLocks noGrp="1"/>
          </p:cNvSpPr>
          <p:nvPr>
            <p:ph type="title"/>
          </p:nvPr>
        </p:nvSpPr>
        <p:spPr/>
        <p:txBody>
          <a:bodyPr/>
          <a:lstStyle/>
          <a:p>
            <a:r>
              <a:rPr lang="en-GB" dirty="0"/>
              <a:t>Homogenous or Heterogenous?</a:t>
            </a:r>
          </a:p>
        </p:txBody>
      </p:sp>
      <p:sp>
        <p:nvSpPr>
          <p:cNvPr id="3" name="Content Placeholder 2">
            <a:extLst>
              <a:ext uri="{FF2B5EF4-FFF2-40B4-BE49-F238E27FC236}">
                <a16:creationId xmlns:a16="http://schemas.microsoft.com/office/drawing/2014/main" id="{909EA60C-45A3-4FDF-36D7-0498C3F2B5CC}"/>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7528903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E6935-C805-9FF8-9834-3C1AC12CFFDC}"/>
              </a:ext>
            </a:extLst>
          </p:cNvPr>
          <p:cNvSpPr>
            <a:spLocks noGrp="1"/>
          </p:cNvSpPr>
          <p:nvPr>
            <p:ph type="title"/>
          </p:nvPr>
        </p:nvSpPr>
        <p:spPr/>
        <p:txBody>
          <a:bodyPr/>
          <a:lstStyle/>
          <a:p>
            <a:r>
              <a:rPr lang="en-GB" dirty="0"/>
              <a:t>Cognitive Load</a:t>
            </a:r>
          </a:p>
        </p:txBody>
      </p:sp>
      <p:sp>
        <p:nvSpPr>
          <p:cNvPr id="3" name="Content Placeholder 2">
            <a:extLst>
              <a:ext uri="{FF2B5EF4-FFF2-40B4-BE49-F238E27FC236}">
                <a16:creationId xmlns:a16="http://schemas.microsoft.com/office/drawing/2014/main" id="{7D68A81E-44CB-9B12-3033-BF74E94386FA}"/>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8748723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4E3D4-9A8B-382F-26F6-C40B41A4D7A9}"/>
              </a:ext>
            </a:extLst>
          </p:cNvPr>
          <p:cNvSpPr>
            <a:spLocks noGrp="1"/>
          </p:cNvSpPr>
          <p:nvPr>
            <p:ph type="title"/>
          </p:nvPr>
        </p:nvSpPr>
        <p:spPr/>
        <p:txBody>
          <a:bodyPr/>
          <a:lstStyle/>
          <a:p>
            <a:r>
              <a:rPr lang="en-GB" dirty="0"/>
              <a:t>Making choices</a:t>
            </a:r>
          </a:p>
        </p:txBody>
      </p:sp>
      <p:sp>
        <p:nvSpPr>
          <p:cNvPr id="3" name="Content Placeholder 2">
            <a:extLst>
              <a:ext uri="{FF2B5EF4-FFF2-40B4-BE49-F238E27FC236}">
                <a16:creationId xmlns:a16="http://schemas.microsoft.com/office/drawing/2014/main" id="{D4B25951-6B51-4F94-2964-01C5CEBE54F7}"/>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4268071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CC2E24-E198-A744-9475-8D145E9DFFC5}"/>
              </a:ext>
            </a:extLst>
          </p:cNvPr>
          <p:cNvSpPr>
            <a:spLocks noGrp="1"/>
          </p:cNvSpPr>
          <p:nvPr>
            <p:ph type="title"/>
          </p:nvPr>
        </p:nvSpPr>
        <p:spPr/>
        <p:txBody>
          <a:bodyPr/>
          <a:lstStyle/>
          <a:p>
            <a:r>
              <a:rPr lang="en-GB" dirty="0"/>
              <a:t>Pulumi</a:t>
            </a:r>
          </a:p>
        </p:txBody>
      </p:sp>
      <p:sp>
        <p:nvSpPr>
          <p:cNvPr id="3" name="Content Placeholder 2">
            <a:extLst>
              <a:ext uri="{FF2B5EF4-FFF2-40B4-BE49-F238E27FC236}">
                <a16:creationId xmlns:a16="http://schemas.microsoft.com/office/drawing/2014/main" id="{41EB71D6-A808-405C-60FA-2E9413DD5A14}"/>
              </a:ext>
            </a:extLst>
          </p:cNvPr>
          <p:cNvSpPr>
            <a:spLocks noGrp="1"/>
          </p:cNvSpPr>
          <p:nvPr>
            <p:ph idx="1"/>
          </p:nvPr>
        </p:nvSpPr>
        <p:spPr/>
        <p:txBody>
          <a:bodyPr>
            <a:normAutofit/>
          </a:bodyPr>
          <a:lstStyle/>
          <a:p>
            <a:r>
              <a:rPr lang="en-GB" dirty="0"/>
              <a:t>TypeScript, Python, Go, .NET, Java</a:t>
            </a:r>
          </a:p>
          <a:p>
            <a:r>
              <a:rPr lang="en-GB" dirty="0"/>
              <a:t>YAML, and HCL.</a:t>
            </a:r>
          </a:p>
          <a:p>
            <a:r>
              <a:rPr lang="en-GB" dirty="0"/>
              <a:t>Open source with option of SaaS back end.</a:t>
            </a:r>
          </a:p>
          <a:p>
            <a:r>
              <a:rPr lang="en-GB" dirty="0"/>
              <a:t>Platforms: AWS; Google Cloud; Azure; Kubernetes; many more…</a:t>
            </a:r>
          </a:p>
          <a:p>
            <a:r>
              <a:rPr lang="en-GB" dirty="0"/>
              <a:t>Plus: Any Terraform Provider; Any HCL Module.</a:t>
            </a:r>
          </a:p>
          <a:p>
            <a:r>
              <a:rPr lang="en-GB" dirty="0" err="1"/>
              <a:t>AWSx</a:t>
            </a:r>
            <a:r>
              <a:rPr lang="en-GB" dirty="0"/>
              <a:t> (Pulumi AWS Components)</a:t>
            </a:r>
          </a:p>
          <a:p>
            <a:pPr lvl="1"/>
            <a:r>
              <a:rPr lang="en-GB" sz="2000" dirty="0"/>
              <a:t>The Amazon Web Services (AWS) </a:t>
            </a:r>
            <a:r>
              <a:rPr lang="en-GB" sz="2000" dirty="0" err="1"/>
              <a:t>AWSx</a:t>
            </a:r>
            <a:r>
              <a:rPr lang="en-GB" sz="2000" dirty="0"/>
              <a:t> library uses automatic well-architected best practices to make common infrastructure-as-code tasks in AWS easier and more secure. It uses the AWS SDK to manage and provision resources.</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1762847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C23A2-C73E-5D4F-D929-AB281A6609DE}"/>
              </a:ext>
            </a:extLst>
          </p:cNvPr>
          <p:cNvSpPr>
            <a:spLocks noGrp="1"/>
          </p:cNvSpPr>
          <p:nvPr>
            <p:ph type="title"/>
          </p:nvPr>
        </p:nvSpPr>
        <p:spPr/>
        <p:txBody>
          <a:bodyPr/>
          <a:lstStyle/>
          <a:p>
            <a:r>
              <a:rPr lang="en-GB" dirty="0"/>
              <a:t>What does this look like in practice…</a:t>
            </a:r>
          </a:p>
        </p:txBody>
      </p:sp>
      <p:sp>
        <p:nvSpPr>
          <p:cNvPr id="3" name="Content Placeholder 2">
            <a:extLst>
              <a:ext uri="{FF2B5EF4-FFF2-40B4-BE49-F238E27FC236}">
                <a16:creationId xmlns:a16="http://schemas.microsoft.com/office/drawing/2014/main" id="{BCD038C7-2BC9-F56D-25D8-E9260840C98E}"/>
              </a:ext>
            </a:extLst>
          </p:cNvPr>
          <p:cNvSpPr>
            <a:spLocks noGrp="1"/>
          </p:cNvSpPr>
          <p:nvPr>
            <p:ph idx="1"/>
          </p:nvPr>
        </p:nvSpPr>
        <p:spPr/>
        <p:txBody>
          <a:bodyPr/>
          <a:lstStyle/>
          <a:p>
            <a:endParaRPr lang="en-GB"/>
          </a:p>
        </p:txBody>
      </p:sp>
    </p:spTree>
    <p:extLst>
      <p:ext uri="{BB962C8B-B14F-4D97-AF65-F5344CB8AC3E}">
        <p14:creationId xmlns:p14="http://schemas.microsoft.com/office/powerpoint/2010/main" val="20109882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1352</TotalTime>
  <Words>954</Words>
  <Application>Microsoft Office PowerPoint</Application>
  <PresentationFormat>Widescreen</PresentationFormat>
  <Paragraphs>64</Paragraphs>
  <Slides>7</Slides>
  <Notes>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Aptos</vt:lpstr>
      <vt:lpstr>Aptos Display</vt:lpstr>
      <vt:lpstr>Arial</vt:lpstr>
      <vt:lpstr>Office Theme</vt:lpstr>
      <vt:lpstr>Developer Friendly IaC</vt:lpstr>
      <vt:lpstr>Choices</vt:lpstr>
      <vt:lpstr>Homogenous or Heterogenous?</vt:lpstr>
      <vt:lpstr>Cognitive Load</vt:lpstr>
      <vt:lpstr>Making choices</vt:lpstr>
      <vt:lpstr>Pulumi</vt:lpstr>
      <vt:lpstr>What does this look like in practice…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James Murphy</dc:creator>
  <cp:lastModifiedBy>James Murphy</cp:lastModifiedBy>
  <cp:revision>1</cp:revision>
  <dcterms:created xsi:type="dcterms:W3CDTF">2026-10-09T09:05:54Z</dcterms:created>
  <dcterms:modified xsi:type="dcterms:W3CDTF">2026-10-10T07:38:02Z</dcterms:modified>
</cp:coreProperties>
</file>